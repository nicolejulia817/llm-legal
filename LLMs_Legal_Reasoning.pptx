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D3748"/>
                </a:solidFill>
                <a:latin typeface="Arial"/>
              </a:rPr>
              <a:t>Training Label Distribution (Near-Uniform)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C45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45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45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457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457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Class 0</c:v>
                  </c:pt>
                  <c:pt idx="1">
                    <c:v>Class 1</c:v>
                  </c:pt>
                  <c:pt idx="2">
                    <c:v>Class 2</c:v>
                  </c:pt>
                  <c:pt idx="3">
                    <c:v>Class 3</c:v>
                  </c:pt>
                  <c:pt idx="4">
                    <c:v>Class 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8570</c:v>
                </c:pt>
                <c:pt idx="1">
                  <c:v>8375</c:v>
                </c:pt>
                <c:pt idx="2">
                  <c:v>8609</c:v>
                </c:pt>
                <c:pt idx="3">
                  <c:v>8451</c:v>
                </c:pt>
                <c:pt idx="4">
                  <c:v>8504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D3748"/>
                </a:solidFill>
                <a:latin typeface="Arial"/>
              </a:rPr>
              <a:t>Validation Accuracy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C9A84C"/>
            </a:solidFill>
            <a:ln w="38100" cap="flat">
              <a:solidFill>
                <a:srgbClr val="C9A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Epoch 1</c:v>
                  </c:pt>
                  <c:pt idx="1">
                    <c:v>Epoch 2</c:v>
                  </c:pt>
                  <c:pt idx="2">
                    <c:v>Epoch 3</c:v>
                  </c:pt>
                  <c:pt idx="3">
                    <c:v>Epoch 4</c:v>
                  </c:pt>
                  <c:pt idx="4">
                    <c:v>Epoch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</c:v>
                </c:pt>
                <c:pt idx="1">
                  <c:v>66</c:v>
                </c:pt>
                <c:pt idx="2">
                  <c:v>69</c:v>
                </c:pt>
                <c:pt idx="3">
                  <c:v>64</c:v>
                </c:pt>
                <c:pt idx="4">
                  <c:v>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Majority Baseline</c:v>
                </c:pt>
              </c:strCache>
            </c:strRef>
          </c:tx>
          <c:spPr>
            <a:solidFill>
              <a:srgbClr val="AABDD4"/>
            </a:solidFill>
            <a:ln w="38100" cap="flat">
              <a:solidFill>
                <a:srgbClr val="AABD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BDD4"/>
              </a:solidFill>
              <a:ln w="9525" cap="flat">
                <a:solidFill>
                  <a:srgbClr val="AABD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Epoch 1</c:v>
                  </c:pt>
                  <c:pt idx="1">
                    <c:v>Epoch 2</c:v>
                  </c:pt>
                  <c:pt idx="2">
                    <c:v>Epoch 3</c:v>
                  </c:pt>
                  <c:pt idx="3">
                    <c:v>Epoch 4</c:v>
                  </c:pt>
                  <c:pt idx="4">
                    <c:v>Epoch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20.25</c:v>
                </c:pt>
                <c:pt idx="1">
                  <c:v>20.25</c:v>
                </c:pt>
                <c:pt idx="2">
                  <c:v>20.25</c:v>
                </c:pt>
                <c:pt idx="3">
                  <c:v>20.25</c:v>
                </c:pt>
                <c:pt idx="4">
                  <c:v>20.25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D3748"/>
                </a:solidFill>
                <a:latin typeface="Arial"/>
              </a:rPr>
              <a:t>Training Loss (Steadily Decreasing)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solidFill>
              <a:srgbClr val="2C45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Epoch 1</c:v>
                  </c:pt>
                  <c:pt idx="1">
                    <c:v>Epoch 2</c:v>
                  </c:pt>
                  <c:pt idx="2">
                    <c:v>Epoch 3</c:v>
                  </c:pt>
                  <c:pt idx="3">
                    <c:v>Epoch 4</c:v>
                  </c:pt>
                  <c:pt idx="4">
                    <c:v>Epoch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1.6003</c:v>
                </c:pt>
                <c:pt idx="1">
                  <c:v>1.3095</c:v>
                </c:pt>
                <c:pt idx="2">
                  <c:v>0.9456</c:v>
                </c:pt>
                <c:pt idx="3">
                  <c:v>0.6705</c:v>
                </c:pt>
                <c:pt idx="4">
                  <c:v>0.4508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132320" y="2743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Language Models in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Reasoning &amp;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Outcome Prediction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457200" y="3337560"/>
            <a:ext cx="32004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 Oszczypala  ·  Aaron Pao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at Buffalo  ·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73152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527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" y="15270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51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487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97280" y="2761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6118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611880"/>
            <a:ext cx="73152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8862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7216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97280" y="3995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CaseHOLD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29200" y="114300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1143000"/>
            <a:ext cx="73152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14173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12527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669280" y="15270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Models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029200" y="2377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029200" y="2377440"/>
            <a:ext cx="73152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26517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9280" y="2487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669280" y="2761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029200" y="36118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029200" y="3611880"/>
            <a:ext cx="73152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38862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69280" y="37216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669280" y="3995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3832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173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High-Stakes Domain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or biased outputs in legal contexts can directly harm individuals. Reliability is paramount.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188720"/>
            <a:ext cx="2743200" cy="3383280"/>
          </a:xfrm>
          <a:prstGeom prst="rect">
            <a:avLst/>
          </a:prstGeom>
          <a:solidFill>
            <a:srgbClr val="1A2B4A"/>
          </a:solidFill>
          <a:ln w="6350">
            <a:solidFill>
              <a:srgbClr val="1A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1732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True Reasoning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83280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LLM fluency translate to structured legal reasoning — or is it surface-level pattern matching?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188720"/>
            <a:ext cx="2743200" cy="33832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09360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failure modes in legal AI contributes to trustworthy AI research and responsible deployment.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C9A84C">
              <a:alpha val="2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Extract facts → Apply doctrine → Produce structured reasoning → Predict outcome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91440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Language Models &amp; Benchmarks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LEGAL-BERT: domain pretraining → gains on classification (Chalkidis et al.)   ·   LexGLUE: 7-dataset benchmark — all classification, no open reasoning   ·   LegalBench (162 tasks): GPT-4 struggles most with interpretation tasks   ·   MMLU: few-shot models near chance on bar-exam questions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395728"/>
            <a:ext cx="85953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95728"/>
            <a:ext cx="91440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68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Judgment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SVMs on ECHR data → 79% accuracy (Aletras et al.) — no reasoning trace   ·   JEC-QA: reading-comprehension models fail on multi-hop statutory reasoning   ·   CUAD: fine-tuned Transformers degrade on rare/complex contract clauses   ·   ContractNLI: contractual NLI — relational reasoning at sentence level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694176"/>
            <a:ext cx="85953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694176"/>
            <a:ext cx="91440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673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Reasoning &amp; Reliability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 (Wei et al.): boosts arithmetic &amp; symbolic tasks   ·   Zero-shot CoT — Lets think step by step (Kojima et al.)   ·   RAG (Lewis et al.): ground outputs in retrieved statutes/precedents   ·   TruthfulQA: larger models can be more confidently wrong (Lin et al.)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CaseHOLD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70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53,137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instances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097280"/>
            <a:ext cx="192024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1170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42,509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77440" y="1554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192024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176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5,314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" y="25603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2103120"/>
            <a:ext cx="192024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77440" y="2176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5,314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77440" y="25603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0" y="1051560"/>
          <a:ext cx="42976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274320" y="3200400"/>
            <a:ext cx="8595360" cy="173736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&amp; Challenges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citing context, select the correct legal holding from 5 candidates  ·  </a:t>
            </a:r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federal appellate cases, 1965–present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395020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doctrinal distinctions — all candidates from real cases   ·   No reasoning annotations — correct label only   ·   Long excerpts may exceed token limits   ·   Embedded social biases from historical cases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Sample: What the Model Must Solve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097280"/>
          </a:xfrm>
          <a:prstGeom prst="rect">
            <a:avLst/>
          </a:prstGeom>
          <a:solidFill>
            <a:srgbClr val="2C4570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Citing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"Felony offenses that involve explosives qualify as 'violent crimes' for purposes of enhancing the sentences of career offenders. See 18 U.S.C. § 924(e)(2)(B)(ii)... Courts have found possession of a bomb to be a crime of violence... See United States v. Newman, 125 F.3d 863 (10th Cir. 1997) [HOLDING]"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4206240" cy="749808"/>
          </a:xfrm>
          <a:prstGeom prst="rect">
            <a:avLst/>
          </a:prstGeom>
          <a:solidFill>
            <a:srgbClr val="C9A84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87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that possession of a pipe bomb is a crime of violence for purposes of 18 USC 3142(f)(1)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15468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355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that bank robbery by force and violence under 18 USC 2113(a) is a crime of violence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402336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2245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that sexual assault of a child qualified as crime of violence under 18 USC 16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87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237744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for purposes of 18 USC 924(e) that being a felon in possession of a firearm is NOT a violent felony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355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324612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that a court must only look to the statutory definition to determine if an offense is a crime of violence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&amp;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BASELINE: Majority Class Predictor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 class 2 (most frequent)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DummyClassifier
strategy='most_frequent'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(random chance for 5-class uniform task)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297680" cy="356616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97280"/>
            <a:ext cx="429768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PRIMARY: ELECTRA-small Transformer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google/electra-small-discriminator + MultipleChoice head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(citing context, candidate holding) pairs → 5 logits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300 tokens per pair, stratified 90/10 split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 · AdamW · lr=2×10⁻⁵ · batch 4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train / 300 val (computational constraints)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solidFill>
            <a:srgbClr val="C9A84C">
              <a:alpha val="1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188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extension (not completed due to cost/time): GPT-4 &amp; Llama 3 with zero-shot IRAC-structured prompting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051560"/>
          <a:ext cx="3200400" cy="201168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Class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ELECTRA-small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BERT-base [prior]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Legal-BERT [prior]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3200400"/>
            <a:ext cx="32004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072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3.4×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6812280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4320" y="42519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ELECTRA-small uses only 1.2% of available training data — yet approaches BERT-base trained on full set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097280"/>
            <a:ext cx="4206240" cy="11704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63440" y="1097280"/>
            <a:ext cx="91440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173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Predictive Signal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49240" y="15361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text contains real features for holding identification — even ELECTRA-small exploits them effectively.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663440" y="2395728"/>
            <a:ext cx="4206240" cy="11704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2395728"/>
            <a:ext cx="91440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71576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2487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Overfitting by Epoch 4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49240" y="28346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continues falling, but val. accuracy drops 64–62%. Classic sign of memorization with only 1,000 training instances.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3440" y="3694176"/>
            <a:ext cx="4206240" cy="11704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63440" y="3694176"/>
            <a:ext cx="91440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014216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37856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Scale is the Bottleneck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49240" y="41330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300-instance val set = 1% accuracy per example. Full 42K training set is the clearest path to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931920" cy="685800"/>
          </a:xfrm>
          <a:prstGeom prst="rect">
            <a:avLst/>
          </a:prstGeom>
          <a:solidFill>
            <a:srgbClr val="2C4570"/>
          </a:solidFill>
          <a:ln w="12700">
            <a:solidFill>
              <a:srgbClr val="2C457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910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81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CaseHOLD is non-trivial — majority-class predictor confirms genuine language understanding is required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167128"/>
            <a:ext cx="3931920" cy="685800"/>
          </a:xfrm>
          <a:prstGeom prst="rect">
            <a:avLst/>
          </a:prstGeom>
          <a:solidFill>
            <a:srgbClr val="2C4570"/>
          </a:solidFill>
          <a:ln w="12700">
            <a:solidFill>
              <a:srgbClr val="2C457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682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2585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Transformer representations capture legally meaningful features with minimal data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944368"/>
            <a:ext cx="3931920" cy="685800"/>
          </a:xfrm>
          <a:prstGeom prst="rect">
            <a:avLst/>
          </a:prstGeom>
          <a:solidFill>
            <a:srgbClr val="2C4570"/>
          </a:solidFill>
          <a:ln w="12700">
            <a:solidFill>
              <a:srgbClr val="2C457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4553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0358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training sample (1,000) creates overfitting; full 42K training set is the primary next step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663440" y="1024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63440" y="13898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full 42K dataset to reduce overfitting and close gap with Legal-BERT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663440" y="20025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ELECTRA-small with Legal-BERT or DeBERTa for domain-adapted encoding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663440" y="2615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GPT-4 &amp; Llama 3 with IRAC-structured zero-shot prompting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663440" y="32278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hallucination rate, citation accuracy, and doctrinal coherence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663440" y="3840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Disaggregate results by circuit, legal domain, and case era to surface bias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4570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 Oszczypala · Aaron Pao · University at Buffalo · CSE 474 ·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LLMs in Legal Reasoning</dc:title>
  <dc:subject>PptxGenJS Presentation</dc:subject>
  <dc:creator>PptxGenJS</dc:creator>
  <cp:lastModifiedBy>PptxGenJS</cp:lastModifiedBy>
  <cp:revision>1</cp:revision>
  <dcterms:created xsi:type="dcterms:W3CDTF">2026-05-05T18:00:30Z</dcterms:created>
  <dcterms:modified xsi:type="dcterms:W3CDTF">2026-05-05T18:00:30Z</dcterms:modified>
</cp:coreProperties>
</file>